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sldIdLst>
    <p:sldId id="256" r:id="rId5"/>
    <p:sldId id="264" r:id="rId6"/>
    <p:sldId id="257" r:id="rId7"/>
    <p:sldId id="258" r:id="rId8"/>
    <p:sldId id="259" r:id="rId9"/>
    <p:sldId id="260" r:id="rId10"/>
    <p:sldId id="261" r:id="rId11"/>
    <p:sldId id="262" r:id="rId12"/>
    <p:sldId id="266" r:id="rId13"/>
    <p:sldId id="267" r:id="rId14"/>
    <p:sldId id="268" r:id="rId15"/>
    <p:sldId id="269" r:id="rId16"/>
    <p:sldId id="270" r:id="rId17"/>
    <p:sldId id="271" r:id="rId18"/>
    <p:sldId id="272" r:id="rId19"/>
    <p:sldId id="273" r:id="rId20"/>
    <p:sldId id="274" r:id="rId21"/>
    <p:sldId id="275" r:id="rId22"/>
    <p:sldId id="276" r:id="rId23"/>
    <p:sldId id="26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80" d="100"/>
          <a:sy n="80" d="100"/>
        </p:scale>
        <p:origin x="787" y="3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7E3ECEC-7E7B-4FB9-BAE8-5C10F12795EA}" type="datetimeFigureOut">
              <a:rPr lang="en-US"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5F31FF-4816-4A7C-BAEE-4B5C41A91EB1}"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6467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3ECEC-7E7B-4FB9-BAE8-5C10F12795EA}" type="datetimeFigureOut">
              <a:rPr lang="en-US"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467714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E3ECEC-7E7B-4FB9-BAE8-5C10F12795EA}" type="datetimeFigureOut">
              <a:rPr lang="en-US"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5F31FF-4816-4A7C-BAEE-4B5C41A91EB1}"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50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E3ECEC-7E7B-4FB9-BAE8-5C10F12795EA}" type="datetimeFigureOut">
              <a:rPr lang="en-US"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644414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E3ECEC-7E7B-4FB9-BAE8-5C10F12795EA}" type="datetimeFigureOut">
              <a:rPr lang="en-US" smtClean="0"/>
              <a:t>23/05/2026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3298178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E3ECEC-7E7B-4FB9-BAE8-5C10F12795EA}" type="datetimeFigureOut">
              <a:rPr lang="en-US" smtClean="0"/>
              <a:t>23/05/2026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2793914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E3ECEC-7E7B-4FB9-BAE8-5C10F12795EA}" type="datetimeFigureOut">
              <a:rPr lang="en-US" smtClean="0"/>
              <a:t>23/05/2026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4088308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E3ECEC-7E7B-4FB9-BAE8-5C10F12795EA}" type="datetimeFigureOut">
              <a:rPr lang="en-US"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676727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E3ECEC-7E7B-4FB9-BAE8-5C10F12795EA}" type="datetimeFigureOut">
              <a:rPr lang="en-US" smtClean="0"/>
              <a:t>23/05/2026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5F31FF-4816-4A7C-BAEE-4B5C41A91EB1}"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01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3ECEC-7E7B-4FB9-BAE8-5C10F12795EA}" type="datetimeFigureOut">
              <a:rPr lang="en-US"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5F31FF-4816-4A7C-BAEE-4B5C41A91EB1}" type="slidenum">
              <a:rPr lang="en-US" smtClean="0"/>
              <a:t>‹#›</a:t>
            </a:fld>
            <a:endParaRPr lang="en-US"/>
          </a:p>
        </p:txBody>
      </p:sp>
    </p:spTree>
    <p:extLst>
      <p:ext uri="{BB962C8B-B14F-4D97-AF65-F5344CB8AC3E}">
        <p14:creationId xmlns:p14="http://schemas.microsoft.com/office/powerpoint/2010/main" val="184283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E3ECEC-7E7B-4FB9-BAE8-5C10F12795EA}" type="datetimeFigureOut">
              <a:rPr lang="en-US" smtClean="0"/>
              <a:t>23/05/2026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5F31FF-4816-4A7C-BAEE-4B5C41A91EB1}"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239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002" y="105879"/>
            <a:ext cx="6933398" cy="3832346"/>
          </a:xfrm>
        </p:spPr>
        <p:txBody>
          <a:bodyPr vert="horz" lIns="91440" tIns="45720" rIns="91440" bIns="45720" rtlCol="0" anchor="t">
            <a:normAutofit/>
          </a:bodyPr>
          <a:lstStyle>
            <a:lvl1pPr>
              <a:lnSpc>
                <a:spcPct val="90000"/>
              </a:lnSpc>
              <a:defRPr lang="en-US" sz="6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000" y="4837892"/>
            <a:ext cx="4184904" cy="918015"/>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9" name="Picture Placeholder 10">
            <a:extLst>
              <a:ext uri="{FF2B5EF4-FFF2-40B4-BE49-F238E27FC236}">
                <a16:creationId xmlns:a16="http://schemas.microsoft.com/office/drawing/2014/main" id="{47046596-FFEC-0663-2F9B-19F442C8D1F7}"/>
              </a:ext>
            </a:extLst>
          </p:cNvPr>
          <p:cNvSpPr>
            <a:spLocks noGrp="1"/>
          </p:cNvSpPr>
          <p:nvPr>
            <p:ph type="pic" sz="quarter" idx="13" hasCustomPrompt="1"/>
          </p:nvPr>
        </p:nvSpPr>
        <p:spPr>
          <a:xfrm>
            <a:off x="7681816" y="0"/>
            <a:ext cx="4510185" cy="6096000"/>
          </a:xfrm>
          <a:custGeom>
            <a:avLst/>
            <a:gdLst>
              <a:gd name="connsiteX0" fmla="*/ 0 w 4510185"/>
              <a:gd name="connsiteY0" fmla="*/ 0 h 6096000"/>
              <a:gd name="connsiteX1" fmla="*/ 4510185 w 4510185"/>
              <a:gd name="connsiteY1" fmla="*/ 0 h 6096000"/>
              <a:gd name="connsiteX2" fmla="*/ 4510185 w 4510185"/>
              <a:gd name="connsiteY2" fmla="*/ 6096000 h 6096000"/>
              <a:gd name="connsiteX3" fmla="*/ 501522 w 4510185"/>
              <a:gd name="connsiteY3" fmla="*/ 6096000 h 6096000"/>
              <a:gd name="connsiteX4" fmla="*/ 0 w 4510185"/>
              <a:gd name="connsiteY4" fmla="*/ 5591398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0185" h="6096000">
                <a:moveTo>
                  <a:pt x="0" y="0"/>
                </a:moveTo>
                <a:lnTo>
                  <a:pt x="4510185" y="0"/>
                </a:lnTo>
                <a:lnTo>
                  <a:pt x="4510185" y="6096000"/>
                </a:lnTo>
                <a:lnTo>
                  <a:pt x="501522" y="6096000"/>
                </a:lnTo>
                <a:cubicBezTo>
                  <a:pt x="224540" y="6096000"/>
                  <a:pt x="0" y="5870082"/>
                  <a:pt x="0" y="5591398"/>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D7E3ECEC-7E7B-4FB9-BAE8-5C10F12795EA}" type="datetimeFigureOut">
              <a:rPr lang="en-US" smtClean="0"/>
              <a:t>23/05/2026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41426043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13702" y="1940943"/>
            <a:ext cx="8771340" cy="4917058"/>
          </a:xfrm>
        </p:spPr>
        <p:txBody>
          <a:bodyPr anchor="b">
            <a:normAutofit/>
          </a:bodyPr>
          <a:lstStyle>
            <a:lvl1pPr>
              <a:lnSpc>
                <a:spcPct val="90000"/>
              </a:lnSpc>
              <a:defRPr sz="7000">
                <a:solidFill>
                  <a:schemeClr val="accent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762000" y="64008"/>
            <a:ext cx="2816835" cy="338328"/>
          </a:xfrm>
        </p:spPr>
        <p:txBody>
          <a:bodyPr/>
          <a:lstStyle>
            <a:lvl1pPr>
              <a:defRPr>
                <a:solidFill>
                  <a:schemeClr val="accent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9290304" y="64008"/>
            <a:ext cx="1612674" cy="338328"/>
          </a:xfrm>
        </p:spPr>
        <p:txBody>
          <a:bodyPr/>
          <a:lstStyle>
            <a:lvl1pPr>
              <a:defRPr>
                <a:solidFill>
                  <a:schemeClr val="accent1"/>
                </a:solidFill>
              </a:defRPr>
            </a:lvl1pPr>
          </a:lstStyle>
          <a:p>
            <a:fld id="{D7E3ECEC-7E7B-4FB9-BAE8-5C10F12795EA}" type="datetimeFigureOut">
              <a:rPr lang="en-US" smtClean="0"/>
              <a:t>23/05/2026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055096" y="64008"/>
            <a:ext cx="457200" cy="338328"/>
          </a:xfrm>
        </p:spPr>
        <p:txBody>
          <a:bodyPr/>
          <a:lstStyle>
            <a:lvl1pPr>
              <a:defRPr>
                <a:solidFill>
                  <a:schemeClr val="accent1"/>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44380444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7E3ECEC-7E7B-4FB9-BAE8-5C10F12795EA}" type="datetimeFigureOut">
              <a:rPr lang="en-US" smtClean="0"/>
              <a:t>23/05/2026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235F31FF-4816-4A7C-BAEE-4B5C41A91EB1}"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274584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88BBA-385E-B100-D3B2-83F877ED7B13}"/>
              </a:ext>
            </a:extLst>
          </p:cNvPr>
          <p:cNvSpPr>
            <a:spLocks noGrp="1"/>
          </p:cNvSpPr>
          <p:nvPr>
            <p:ph type="ctrTitle"/>
          </p:nvPr>
        </p:nvSpPr>
        <p:spPr>
          <a:xfrm>
            <a:off x="77002" y="105879"/>
            <a:ext cx="7604814" cy="3832346"/>
          </a:xfrm>
        </p:spPr>
        <p:txBody>
          <a:bodyPr/>
          <a:lstStyle/>
          <a:p>
            <a:r>
              <a:rPr lang="en-US" dirty="0">
                <a:solidFill>
                  <a:schemeClr val="bg2"/>
                </a:solidFill>
              </a:rPr>
              <a:t>travel</a:t>
            </a:r>
            <a:br>
              <a:rPr lang="ar-EG" dirty="0">
                <a:solidFill>
                  <a:schemeClr val="bg2"/>
                </a:solidFill>
              </a:rPr>
            </a:br>
            <a:r>
              <a:rPr lang="en-US" dirty="0">
                <a:solidFill>
                  <a:schemeClr val="bg2"/>
                </a:solidFill>
              </a:rPr>
              <a:t>agency</a:t>
            </a:r>
          </a:p>
        </p:txBody>
      </p:sp>
      <p:sp>
        <p:nvSpPr>
          <p:cNvPr id="3" name="Subtitle 2">
            <a:extLst>
              <a:ext uri="{FF2B5EF4-FFF2-40B4-BE49-F238E27FC236}">
                <a16:creationId xmlns:a16="http://schemas.microsoft.com/office/drawing/2014/main" id="{D508797C-B534-8121-1EFA-68AC9E565808}"/>
              </a:ext>
            </a:extLst>
          </p:cNvPr>
          <p:cNvSpPr>
            <a:spLocks noGrp="1"/>
          </p:cNvSpPr>
          <p:nvPr>
            <p:ph type="subTitle" idx="1"/>
          </p:nvPr>
        </p:nvSpPr>
        <p:spPr/>
        <p:txBody>
          <a:bodyPr/>
          <a:lstStyle/>
          <a:p>
            <a:r>
              <a:rPr lang="en-US" dirty="0"/>
              <a:t>Smart Travel Analytics </a:t>
            </a:r>
          </a:p>
        </p:txBody>
      </p:sp>
      <p:pic>
        <p:nvPicPr>
          <p:cNvPr id="5" name="Picture 4">
            <a:extLst>
              <a:ext uri="{FF2B5EF4-FFF2-40B4-BE49-F238E27FC236}">
                <a16:creationId xmlns:a16="http://schemas.microsoft.com/office/drawing/2014/main" id="{70769AE9-2092-2915-A9B4-AEDD0FC67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0480" y="509225"/>
            <a:ext cx="6858000" cy="6858000"/>
          </a:xfrm>
          <a:prstGeom prst="rect">
            <a:avLst/>
          </a:prstGeom>
        </p:spPr>
      </p:pic>
    </p:spTree>
    <p:extLst>
      <p:ext uri="{BB962C8B-B14F-4D97-AF65-F5344CB8AC3E}">
        <p14:creationId xmlns:p14="http://schemas.microsoft.com/office/powerpoint/2010/main" val="1716342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5C714-2DC1-0951-132B-7A2981E03B45}"/>
              </a:ext>
            </a:extLst>
          </p:cNvPr>
          <p:cNvSpPr>
            <a:spLocks noGrp="1"/>
          </p:cNvSpPr>
          <p:nvPr>
            <p:ph type="ctrTitle"/>
          </p:nvPr>
        </p:nvSpPr>
        <p:spPr>
          <a:xfrm>
            <a:off x="77002" y="105879"/>
            <a:ext cx="6933398" cy="1234889"/>
          </a:xfrm>
        </p:spPr>
        <p:txBody>
          <a:bodyPr/>
          <a:lstStyle/>
          <a:p>
            <a:r>
              <a:rPr lang="en-US" dirty="0"/>
              <a:t>Team Members:</a:t>
            </a:r>
          </a:p>
        </p:txBody>
      </p:sp>
      <p:sp>
        <p:nvSpPr>
          <p:cNvPr id="4" name="Picture Placeholder 3">
            <a:extLst>
              <a:ext uri="{FF2B5EF4-FFF2-40B4-BE49-F238E27FC236}">
                <a16:creationId xmlns:a16="http://schemas.microsoft.com/office/drawing/2014/main" id="{853F8DFE-5596-AA0E-232C-DE54C8E005A9}"/>
              </a:ext>
            </a:extLst>
          </p:cNvPr>
          <p:cNvSpPr>
            <a:spLocks noGrp="1"/>
          </p:cNvSpPr>
          <p:nvPr>
            <p:ph type="pic" sz="quarter" idx="13"/>
          </p:nvPr>
        </p:nvSpPr>
        <p:spPr/>
      </p:sp>
      <p:sp>
        <p:nvSpPr>
          <p:cNvPr id="5" name="Rectangle 1">
            <a:extLst>
              <a:ext uri="{FF2B5EF4-FFF2-40B4-BE49-F238E27FC236}">
                <a16:creationId xmlns:a16="http://schemas.microsoft.com/office/drawing/2014/main" id="{F5544E77-0233-DDEA-D4E3-38164CF61F9E}"/>
              </a:ext>
            </a:extLst>
          </p:cNvPr>
          <p:cNvSpPr>
            <a:spLocks noGrp="1" noChangeArrowheads="1"/>
          </p:cNvSpPr>
          <p:nvPr>
            <p:ph type="subTitle" idx="1"/>
          </p:nvPr>
        </p:nvSpPr>
        <p:spPr bwMode="auto">
          <a:xfrm>
            <a:off x="191344" y="1556792"/>
            <a:ext cx="69124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Ahmed Hussein Afifi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Islam Adel Ali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Esraa Khaled Ragab (Power BI)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Nesma Wael Amer (Python)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Diana Emad Wagdy (SQL)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Mahmoud Tarek Ali (SQL)</a:t>
            </a:r>
          </a:p>
        </p:txBody>
      </p:sp>
    </p:spTree>
    <p:extLst>
      <p:ext uri="{BB962C8B-B14F-4D97-AF65-F5344CB8AC3E}">
        <p14:creationId xmlns:p14="http://schemas.microsoft.com/office/powerpoint/2010/main" val="909472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C0DD3-C179-4F92-4C71-B91A0C835218}"/>
              </a:ext>
            </a:extLst>
          </p:cNvPr>
          <p:cNvSpPr>
            <a:spLocks noGrp="1"/>
          </p:cNvSpPr>
          <p:nvPr>
            <p:ph type="title"/>
          </p:nvPr>
        </p:nvSpPr>
        <p:spPr/>
        <p:txBody>
          <a:bodyPr>
            <a:normAutofit/>
          </a:bodyPr>
          <a:lstStyle/>
          <a:p>
            <a:r>
              <a:rPr lang="en-US" sz="2700" b="1" dirty="0">
                <a:latin typeface="Abadi" panose="020B0604020104020204" pitchFamily="34" charset="0"/>
              </a:rPr>
              <a:t>Problem Statement</a:t>
            </a:r>
            <a:br>
              <a:rPr lang="en-US" dirty="0"/>
            </a:br>
            <a:endParaRPr lang="en-US" dirty="0"/>
          </a:p>
        </p:txBody>
      </p:sp>
      <p:sp>
        <p:nvSpPr>
          <p:cNvPr id="3" name="Content Placeholder 2">
            <a:extLst>
              <a:ext uri="{FF2B5EF4-FFF2-40B4-BE49-F238E27FC236}">
                <a16:creationId xmlns:a16="http://schemas.microsoft.com/office/drawing/2014/main" id="{33C33F9F-578B-96EE-B894-0FD93A51F7A5}"/>
              </a:ext>
            </a:extLst>
          </p:cNvPr>
          <p:cNvSpPr>
            <a:spLocks noGrp="1"/>
          </p:cNvSpPr>
          <p:nvPr>
            <p:ph idx="1"/>
          </p:nvPr>
        </p:nvSpPr>
        <p:spPr/>
        <p:txBody>
          <a:bodyPr/>
          <a:lstStyle/>
          <a:p>
            <a:r>
              <a:rPr lang="en-US" sz="2400" dirty="0"/>
              <a:t>Travel agencies collect large amounts of customer and booking data every day, but this data is often underutilized. Without proper analysis, it becomes difficult to identify popular destinations, understand customer preferences, and improve business performance.</a:t>
            </a:r>
          </a:p>
          <a:p>
            <a:r>
              <a:rPr lang="en-US" sz="2400" dirty="0"/>
              <a:t>This project aims to analyze travel agency data to discover useful insights, identify booking trends, and support better business decisions through data visualization and analytics.</a:t>
            </a:r>
          </a:p>
          <a:p>
            <a:endParaRPr lang="en-US" dirty="0"/>
          </a:p>
        </p:txBody>
      </p:sp>
    </p:spTree>
    <p:extLst>
      <p:ext uri="{BB962C8B-B14F-4D97-AF65-F5344CB8AC3E}">
        <p14:creationId xmlns:p14="http://schemas.microsoft.com/office/powerpoint/2010/main" val="2071781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28798-481F-A4B7-5FF2-30E8A1107315}"/>
              </a:ext>
            </a:extLst>
          </p:cNvPr>
          <p:cNvSpPr>
            <a:spLocks noGrp="1"/>
          </p:cNvSpPr>
          <p:nvPr>
            <p:ph type="title"/>
          </p:nvPr>
        </p:nvSpPr>
        <p:spPr/>
        <p:txBody>
          <a:bodyPr>
            <a:noAutofit/>
          </a:bodyPr>
          <a:lstStyle/>
          <a:p>
            <a:r>
              <a:rPr lang="en-US" sz="2800" b="1" dirty="0">
                <a:latin typeface="Abadi" panose="020B0604020104020204" pitchFamily="34" charset="0"/>
              </a:rPr>
              <a:t>Project Objectives</a:t>
            </a:r>
            <a:br>
              <a:rPr lang="en-US" sz="2800" b="1" dirty="0">
                <a:latin typeface="Abadi" panose="020B0604020104020204" pitchFamily="34" charset="0"/>
              </a:rPr>
            </a:br>
            <a:endParaRPr lang="en-US" sz="2800" dirty="0">
              <a:latin typeface="Abadi" panose="020B0604020104020204" pitchFamily="34" charset="0"/>
            </a:endParaRPr>
          </a:p>
        </p:txBody>
      </p:sp>
      <p:sp>
        <p:nvSpPr>
          <p:cNvPr id="3" name="Content Placeholder 2">
            <a:extLst>
              <a:ext uri="{FF2B5EF4-FFF2-40B4-BE49-F238E27FC236}">
                <a16:creationId xmlns:a16="http://schemas.microsoft.com/office/drawing/2014/main" id="{EB07B8E7-2651-F6B7-AC11-313D127177F6}"/>
              </a:ext>
            </a:extLst>
          </p:cNvPr>
          <p:cNvSpPr>
            <a:spLocks noGrp="1"/>
          </p:cNvSpPr>
          <p:nvPr>
            <p:ph idx="1"/>
          </p:nvPr>
        </p:nvSpPr>
        <p:spPr/>
        <p:txBody>
          <a:bodyPr/>
          <a:lstStyle/>
          <a:p>
            <a:r>
              <a:rPr lang="en-US" sz="2400" dirty="0"/>
              <a:t>Analyze customer booking behavior </a:t>
            </a:r>
            <a:endParaRPr lang="ar-EG" sz="2400" dirty="0"/>
          </a:p>
          <a:p>
            <a:r>
              <a:rPr lang="en-US" sz="2400" dirty="0"/>
              <a:t>Identify the most popular travel destinations </a:t>
            </a:r>
          </a:p>
          <a:p>
            <a:r>
              <a:rPr lang="en-US" sz="2400" dirty="0"/>
              <a:t>Discover seasonal travel trends </a:t>
            </a:r>
          </a:p>
          <a:p>
            <a:r>
              <a:rPr lang="en-US" sz="2400" dirty="0"/>
              <a:t>Evaluate customer satisfaction levels </a:t>
            </a:r>
          </a:p>
          <a:p>
            <a:r>
              <a:rPr lang="en-US" sz="2400" dirty="0"/>
              <a:t>Analyze agency revenue and booking performance </a:t>
            </a:r>
          </a:p>
          <a:p>
            <a:r>
              <a:rPr lang="en-US" sz="2400" dirty="0"/>
              <a:t>Provide data-driven recommendations for business improvement </a:t>
            </a:r>
          </a:p>
          <a:p>
            <a:r>
              <a:rPr lang="en-US" sz="2400" dirty="0"/>
              <a:t>Create interactive visualizations and dashboards for better decision-making </a:t>
            </a:r>
          </a:p>
          <a:p>
            <a:pPr marL="0" indent="0">
              <a:buNone/>
            </a:pPr>
            <a:endParaRPr lang="en-US" sz="2400" dirty="0"/>
          </a:p>
        </p:txBody>
      </p:sp>
    </p:spTree>
    <p:extLst>
      <p:ext uri="{BB962C8B-B14F-4D97-AF65-F5344CB8AC3E}">
        <p14:creationId xmlns:p14="http://schemas.microsoft.com/office/powerpoint/2010/main" val="821089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AAB5-2561-A648-BBD5-667900D35819}"/>
              </a:ext>
            </a:extLst>
          </p:cNvPr>
          <p:cNvSpPr>
            <a:spLocks noGrp="1"/>
          </p:cNvSpPr>
          <p:nvPr>
            <p:ph type="title"/>
          </p:nvPr>
        </p:nvSpPr>
        <p:spPr/>
        <p:txBody>
          <a:bodyPr>
            <a:normAutofit/>
          </a:bodyPr>
          <a:lstStyle/>
          <a:p>
            <a:r>
              <a:rPr lang="en-US" sz="3100" b="1" dirty="0">
                <a:latin typeface="Abadi" panose="020B0604020104020204" pitchFamily="34" charset="0"/>
              </a:rPr>
              <a:t>Dataset Overview</a:t>
            </a:r>
            <a:br>
              <a:rPr lang="en-US" dirty="0"/>
            </a:br>
            <a:endParaRPr lang="en-US" dirty="0"/>
          </a:p>
        </p:txBody>
      </p:sp>
      <p:sp>
        <p:nvSpPr>
          <p:cNvPr id="3" name="Content Placeholder 2">
            <a:extLst>
              <a:ext uri="{FF2B5EF4-FFF2-40B4-BE49-F238E27FC236}">
                <a16:creationId xmlns:a16="http://schemas.microsoft.com/office/drawing/2014/main" id="{83701752-5725-4776-1230-F345F140A98C}"/>
              </a:ext>
            </a:extLst>
          </p:cNvPr>
          <p:cNvSpPr>
            <a:spLocks noGrp="1"/>
          </p:cNvSpPr>
          <p:nvPr>
            <p:ph idx="1"/>
          </p:nvPr>
        </p:nvSpPr>
        <p:spPr/>
        <p:txBody>
          <a:bodyPr>
            <a:normAutofit fontScale="55000" lnSpcReduction="20000"/>
          </a:bodyPr>
          <a:lstStyle/>
          <a:p>
            <a:r>
              <a:rPr lang="en-US" b="1" dirty="0" err="1"/>
              <a:t>DimVisaApplications</a:t>
            </a:r>
            <a:br>
              <a:rPr lang="en-US" dirty="0"/>
            </a:br>
            <a:r>
              <a:rPr lang="en-US" dirty="0"/>
              <a:t>Contains information about customer visa applications, approval status, processing time, and destination countries. </a:t>
            </a:r>
          </a:p>
          <a:p>
            <a:r>
              <a:rPr lang="en-US" b="1" dirty="0" err="1"/>
              <a:t>DimHotels</a:t>
            </a:r>
            <a:br>
              <a:rPr lang="en-US" dirty="0"/>
            </a:br>
            <a:r>
              <a:rPr lang="en-US" dirty="0"/>
              <a:t>Includes hotel details such as hotel names, locations, ratings, room types, and pricing information. </a:t>
            </a:r>
          </a:p>
          <a:p>
            <a:r>
              <a:rPr lang="en-US" b="1" dirty="0" err="1"/>
              <a:t>DimTickets</a:t>
            </a:r>
            <a:br>
              <a:rPr lang="en-US" dirty="0"/>
            </a:br>
            <a:r>
              <a:rPr lang="en-US" dirty="0"/>
              <a:t>Stores ticket-related data including airline information, ticket class, departure dates, and ticket prices. </a:t>
            </a:r>
          </a:p>
          <a:p>
            <a:r>
              <a:rPr lang="en-US" b="1" dirty="0" err="1"/>
              <a:t>FactBookings</a:t>
            </a:r>
            <a:br>
              <a:rPr lang="en-US" dirty="0"/>
            </a:br>
            <a:r>
              <a:rPr lang="en-US" dirty="0"/>
              <a:t>The main transactional table that contains booking records, customer activities, travel costs, booking dates, and links between all dimensions. </a:t>
            </a:r>
          </a:p>
          <a:p>
            <a:r>
              <a:rPr lang="en-US" b="1" dirty="0"/>
              <a:t>Purpose of the Dataset</a:t>
            </a:r>
          </a:p>
          <a:p>
            <a:r>
              <a:rPr lang="en-US" dirty="0"/>
              <a:t>The dataset was analyzed to:</a:t>
            </a:r>
          </a:p>
          <a:p>
            <a:r>
              <a:rPr lang="en-US" dirty="0"/>
              <a:t>Understand customer booking behavior </a:t>
            </a:r>
          </a:p>
          <a:p>
            <a:r>
              <a:rPr lang="en-US" dirty="0"/>
              <a:t>Identify popular destinations and hotels </a:t>
            </a:r>
          </a:p>
          <a:p>
            <a:r>
              <a:rPr lang="en-US" dirty="0"/>
              <a:t>Analyze travel and ticket trends </a:t>
            </a:r>
          </a:p>
          <a:p>
            <a:r>
              <a:rPr lang="en-US" dirty="0"/>
              <a:t>Measure booking performance and revenue </a:t>
            </a:r>
          </a:p>
          <a:p>
            <a:r>
              <a:rPr lang="en-US" dirty="0"/>
              <a:t>Generate business insights for better decision-making in the travel agency sector </a:t>
            </a:r>
          </a:p>
          <a:p>
            <a:pPr marL="0" indent="0">
              <a:buNone/>
            </a:pPr>
            <a:endParaRPr lang="en-US" sz="1700" dirty="0"/>
          </a:p>
        </p:txBody>
      </p:sp>
    </p:spTree>
    <p:extLst>
      <p:ext uri="{BB962C8B-B14F-4D97-AF65-F5344CB8AC3E}">
        <p14:creationId xmlns:p14="http://schemas.microsoft.com/office/powerpoint/2010/main" val="135218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BAE4C-E8B8-39A2-9C2B-06E52E39D47A}"/>
              </a:ext>
            </a:extLst>
          </p:cNvPr>
          <p:cNvSpPr>
            <a:spLocks noGrp="1"/>
          </p:cNvSpPr>
          <p:nvPr>
            <p:ph type="title"/>
          </p:nvPr>
        </p:nvSpPr>
        <p:spPr/>
        <p:txBody>
          <a:bodyPr>
            <a:normAutofit/>
          </a:bodyPr>
          <a:lstStyle/>
          <a:p>
            <a:r>
              <a:rPr lang="en-US" sz="2800" dirty="0">
                <a:latin typeface="Abadi" panose="020B0604020104020204" pitchFamily="34" charset="0"/>
              </a:rPr>
              <a:t>Data Cleaning</a:t>
            </a:r>
          </a:p>
        </p:txBody>
      </p:sp>
      <p:sp>
        <p:nvSpPr>
          <p:cNvPr id="3" name="Content Placeholder 2">
            <a:extLst>
              <a:ext uri="{FF2B5EF4-FFF2-40B4-BE49-F238E27FC236}">
                <a16:creationId xmlns:a16="http://schemas.microsoft.com/office/drawing/2014/main" id="{4C643177-7616-CC14-2F9D-0C8F4965BBB7}"/>
              </a:ext>
            </a:extLst>
          </p:cNvPr>
          <p:cNvSpPr>
            <a:spLocks noGrp="1"/>
          </p:cNvSpPr>
          <p:nvPr>
            <p:ph idx="1"/>
          </p:nvPr>
        </p:nvSpPr>
        <p:spPr/>
        <p:txBody>
          <a:bodyPr/>
          <a:lstStyle/>
          <a:p>
            <a:r>
              <a:rPr lang="en-US" sz="1600" dirty="0"/>
              <a:t>Before starting the analysis, the dataset was cleaned and prepared to ensure accuracy and consistency of the results.</a:t>
            </a:r>
          </a:p>
          <a:p>
            <a:r>
              <a:rPr lang="en-US" sz="1600" b="1" dirty="0"/>
              <a:t>Data Cleaning Steps</a:t>
            </a:r>
          </a:p>
          <a:p>
            <a:r>
              <a:rPr lang="en-US" sz="1600" dirty="0"/>
              <a:t>Removed missing and null values </a:t>
            </a:r>
          </a:p>
          <a:p>
            <a:r>
              <a:rPr lang="en-US" sz="1600" dirty="0"/>
              <a:t>Eliminated duplicate records </a:t>
            </a:r>
          </a:p>
          <a:p>
            <a:r>
              <a:rPr lang="en-US" sz="1600" dirty="0"/>
              <a:t>Standardized date and text formats </a:t>
            </a:r>
          </a:p>
          <a:p>
            <a:r>
              <a:rPr lang="en-US" sz="1600" dirty="0"/>
              <a:t>Corrected inconsistent data entries </a:t>
            </a:r>
          </a:p>
          <a:p>
            <a:r>
              <a:rPr lang="en-US" sz="1600" dirty="0"/>
              <a:t>Checked relationships between dimension tables and the fact table </a:t>
            </a:r>
          </a:p>
          <a:p>
            <a:r>
              <a:rPr lang="en-US" sz="1600" dirty="0"/>
              <a:t>Verified hotel, ticket, and visa data integrity </a:t>
            </a:r>
          </a:p>
          <a:p>
            <a:r>
              <a:rPr lang="en-US" sz="1600" dirty="0"/>
              <a:t>Prepared the dataset for analysis and visualization </a:t>
            </a:r>
          </a:p>
          <a:p>
            <a:r>
              <a:rPr lang="en-US" sz="1600" dirty="0"/>
              <a:t>These steps helped improve data quality and ensured reliable insights throughout the project.</a:t>
            </a:r>
          </a:p>
          <a:p>
            <a:pPr marL="0" indent="0">
              <a:buNone/>
            </a:pPr>
            <a:endParaRPr lang="en-US" dirty="0"/>
          </a:p>
        </p:txBody>
      </p:sp>
    </p:spTree>
    <p:extLst>
      <p:ext uri="{BB962C8B-B14F-4D97-AF65-F5344CB8AC3E}">
        <p14:creationId xmlns:p14="http://schemas.microsoft.com/office/powerpoint/2010/main" val="317312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C15D8-3898-8DA2-1679-915776B69274}"/>
              </a:ext>
            </a:extLst>
          </p:cNvPr>
          <p:cNvSpPr>
            <a:spLocks noGrp="1"/>
          </p:cNvSpPr>
          <p:nvPr>
            <p:ph type="title"/>
          </p:nvPr>
        </p:nvSpPr>
        <p:spPr/>
        <p:txBody>
          <a:bodyPr>
            <a:noAutofit/>
          </a:bodyPr>
          <a:lstStyle/>
          <a:p>
            <a:r>
              <a:rPr lang="en-US" sz="2800" b="1" dirty="0">
                <a:latin typeface="Abadi" panose="020B0604020104020204" pitchFamily="34" charset="0"/>
              </a:rPr>
              <a:t> Tools &amp; Technologies</a:t>
            </a:r>
            <a:br>
              <a:rPr lang="en-US" sz="2800" b="1" dirty="0">
                <a:latin typeface="Abadi" panose="020B0604020104020204" pitchFamily="34" charset="0"/>
              </a:rPr>
            </a:br>
            <a:endParaRPr lang="en-US" sz="2800" dirty="0">
              <a:latin typeface="Abadi" panose="020B0604020104020204" pitchFamily="34" charset="0"/>
            </a:endParaRPr>
          </a:p>
        </p:txBody>
      </p:sp>
      <p:sp>
        <p:nvSpPr>
          <p:cNvPr id="3" name="Content Placeholder 2">
            <a:extLst>
              <a:ext uri="{FF2B5EF4-FFF2-40B4-BE49-F238E27FC236}">
                <a16:creationId xmlns:a16="http://schemas.microsoft.com/office/drawing/2014/main" id="{52B05B98-1798-9D55-34BB-8A41A9AF58B6}"/>
              </a:ext>
            </a:extLst>
          </p:cNvPr>
          <p:cNvSpPr>
            <a:spLocks noGrp="1"/>
          </p:cNvSpPr>
          <p:nvPr>
            <p:ph idx="1"/>
          </p:nvPr>
        </p:nvSpPr>
        <p:spPr/>
        <p:txBody>
          <a:bodyPr/>
          <a:lstStyle/>
          <a:p>
            <a:r>
              <a:rPr lang="en-US" sz="2000" b="1" dirty="0"/>
              <a:t>SQL</a:t>
            </a:r>
            <a:br>
              <a:rPr lang="en-US" sz="2000" dirty="0"/>
            </a:br>
            <a:r>
              <a:rPr lang="en-US" sz="2000" dirty="0"/>
              <a:t>Used for querying, managing, and extracting data from the database. </a:t>
            </a:r>
          </a:p>
          <a:p>
            <a:r>
              <a:rPr lang="en-US" sz="2000" b="1" dirty="0"/>
              <a:t>Python</a:t>
            </a:r>
            <a:br>
              <a:rPr lang="en-US" sz="2000" dirty="0"/>
            </a:br>
            <a:r>
              <a:rPr lang="en-US" sz="2000" dirty="0"/>
              <a:t>Used for data cleaning, preprocessing, and exploratory data analysis (EDA). </a:t>
            </a:r>
          </a:p>
          <a:p>
            <a:r>
              <a:rPr lang="en-US" sz="2000" b="1" dirty="0"/>
              <a:t>Power BI</a:t>
            </a:r>
            <a:br>
              <a:rPr lang="en-US" sz="2000" dirty="0"/>
            </a:br>
            <a:r>
              <a:rPr lang="en-US" sz="2000" dirty="0"/>
              <a:t>Used to create interactive dashboards and data visualizations. </a:t>
            </a:r>
          </a:p>
          <a:p>
            <a:r>
              <a:rPr lang="en-US" sz="2000" b="1" dirty="0"/>
              <a:t>Excel</a:t>
            </a:r>
            <a:br>
              <a:rPr lang="en-US" sz="2000" dirty="0"/>
            </a:br>
            <a:r>
              <a:rPr lang="en-US" sz="2000" dirty="0"/>
              <a:t>Used for initial data inspection, organization, and simple analysis tasks. </a:t>
            </a:r>
          </a:p>
          <a:p>
            <a:endParaRPr lang="en-US" dirty="0"/>
          </a:p>
        </p:txBody>
      </p:sp>
    </p:spTree>
    <p:extLst>
      <p:ext uri="{BB962C8B-B14F-4D97-AF65-F5344CB8AC3E}">
        <p14:creationId xmlns:p14="http://schemas.microsoft.com/office/powerpoint/2010/main" val="915810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D4091-E01F-B1E1-CDD1-177FCD86BBDC}"/>
              </a:ext>
            </a:extLst>
          </p:cNvPr>
          <p:cNvSpPr>
            <a:spLocks noGrp="1"/>
          </p:cNvSpPr>
          <p:nvPr>
            <p:ph type="title"/>
          </p:nvPr>
        </p:nvSpPr>
        <p:spPr/>
        <p:txBody>
          <a:bodyPr>
            <a:normAutofit/>
          </a:bodyPr>
          <a:lstStyle/>
          <a:p>
            <a:r>
              <a:rPr lang="en-US" sz="3100" b="1" dirty="0">
                <a:latin typeface="Abadi" panose="020B0604020104020204" pitchFamily="34" charset="0"/>
              </a:rPr>
              <a:t>Conclusion</a:t>
            </a:r>
            <a:br>
              <a:rPr lang="en-US" dirty="0"/>
            </a:br>
            <a:endParaRPr lang="en-US" dirty="0"/>
          </a:p>
        </p:txBody>
      </p:sp>
      <p:sp>
        <p:nvSpPr>
          <p:cNvPr id="3" name="Content Placeholder 2">
            <a:extLst>
              <a:ext uri="{FF2B5EF4-FFF2-40B4-BE49-F238E27FC236}">
                <a16:creationId xmlns:a16="http://schemas.microsoft.com/office/drawing/2014/main" id="{7D7A817C-3FF5-9C1C-621A-C5FB3C286D5C}"/>
              </a:ext>
            </a:extLst>
          </p:cNvPr>
          <p:cNvSpPr>
            <a:spLocks noGrp="1"/>
          </p:cNvSpPr>
          <p:nvPr>
            <p:ph idx="1"/>
          </p:nvPr>
        </p:nvSpPr>
        <p:spPr/>
        <p:txBody>
          <a:bodyPr/>
          <a:lstStyle/>
          <a:p>
            <a:pPr marL="0" indent="0">
              <a:buNone/>
            </a:pPr>
            <a:r>
              <a:rPr lang="en-US" sz="2800" dirty="0"/>
              <a:t>Data analysis helps travel agencies make smarter and more profitable decisions.</a:t>
            </a:r>
          </a:p>
          <a:p>
            <a:pPr marL="0" indent="0">
              <a:buNone/>
            </a:pPr>
            <a:endParaRPr lang="en-US" dirty="0"/>
          </a:p>
        </p:txBody>
      </p:sp>
    </p:spTree>
    <p:extLst>
      <p:ext uri="{BB962C8B-B14F-4D97-AF65-F5344CB8AC3E}">
        <p14:creationId xmlns:p14="http://schemas.microsoft.com/office/powerpoint/2010/main" val="1020164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2D5B-5D30-C625-891C-227ED199D528}"/>
              </a:ext>
            </a:extLst>
          </p:cNvPr>
          <p:cNvSpPr>
            <a:spLocks noGrp="1"/>
          </p:cNvSpPr>
          <p:nvPr>
            <p:ph type="title"/>
          </p:nvPr>
        </p:nvSpPr>
        <p:spPr>
          <a:xfrm>
            <a:off x="479376" y="332656"/>
            <a:ext cx="1471472" cy="888080"/>
          </a:xfrm>
        </p:spPr>
        <p:txBody>
          <a:bodyPr/>
          <a:lstStyle/>
          <a:p>
            <a:r>
              <a:rPr lang="en-US" dirty="0"/>
              <a:t>excel</a:t>
            </a:r>
          </a:p>
        </p:txBody>
      </p:sp>
      <p:pic>
        <p:nvPicPr>
          <p:cNvPr id="19" name="Content Placeholder 18">
            <a:extLst>
              <a:ext uri="{FF2B5EF4-FFF2-40B4-BE49-F238E27FC236}">
                <a16:creationId xmlns:a16="http://schemas.microsoft.com/office/drawing/2014/main" id="{22C43DD6-5F88-97CB-D39F-EFB66ADE1F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468"/>
          <a:stretch>
            <a:fillRect/>
          </a:stretch>
        </p:blipFill>
        <p:spPr>
          <a:xfrm>
            <a:off x="767408" y="1052513"/>
            <a:ext cx="10657184" cy="4968775"/>
          </a:xfrm>
          <a:prstGeom prst="rect">
            <a:avLst/>
          </a:prstGeom>
        </p:spPr>
      </p:pic>
    </p:spTree>
    <p:extLst>
      <p:ext uri="{BB962C8B-B14F-4D97-AF65-F5344CB8AC3E}">
        <p14:creationId xmlns:p14="http://schemas.microsoft.com/office/powerpoint/2010/main" val="15871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98C8-B9AE-11B8-04F8-2802EEB5B4A2}"/>
              </a:ext>
            </a:extLst>
          </p:cNvPr>
          <p:cNvSpPr>
            <a:spLocks noGrp="1"/>
          </p:cNvSpPr>
          <p:nvPr>
            <p:ph type="title"/>
          </p:nvPr>
        </p:nvSpPr>
        <p:spPr>
          <a:xfrm>
            <a:off x="335360" y="260648"/>
            <a:ext cx="1471472" cy="755552"/>
          </a:xfrm>
        </p:spPr>
        <p:txBody>
          <a:bodyPr/>
          <a:lstStyle/>
          <a:p>
            <a:r>
              <a:rPr lang="en-US" dirty="0"/>
              <a:t>Excel</a:t>
            </a:r>
          </a:p>
        </p:txBody>
      </p:sp>
      <p:pic>
        <p:nvPicPr>
          <p:cNvPr id="5" name="Content Placeholder 4">
            <a:extLst>
              <a:ext uri="{FF2B5EF4-FFF2-40B4-BE49-F238E27FC236}">
                <a16:creationId xmlns:a16="http://schemas.microsoft.com/office/drawing/2014/main" id="{99BE69D2-B269-9EFC-6808-E4EEB57EF0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990"/>
          <a:stretch>
            <a:fillRect/>
          </a:stretch>
        </p:blipFill>
        <p:spPr>
          <a:xfrm>
            <a:off x="191345" y="908721"/>
            <a:ext cx="11665296" cy="5184576"/>
          </a:xfrm>
          <a:prstGeom prst="rect">
            <a:avLst/>
          </a:prstGeom>
        </p:spPr>
      </p:pic>
    </p:spTree>
    <p:extLst>
      <p:ext uri="{BB962C8B-B14F-4D97-AF65-F5344CB8AC3E}">
        <p14:creationId xmlns:p14="http://schemas.microsoft.com/office/powerpoint/2010/main" val="377158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9255-3115-A99F-5B8F-3E4016F24167}"/>
              </a:ext>
            </a:extLst>
          </p:cNvPr>
          <p:cNvSpPr>
            <a:spLocks noGrp="1"/>
          </p:cNvSpPr>
          <p:nvPr>
            <p:ph type="title"/>
          </p:nvPr>
        </p:nvSpPr>
        <p:spPr>
          <a:xfrm>
            <a:off x="396404" y="260648"/>
            <a:ext cx="1255448" cy="683544"/>
          </a:xfrm>
        </p:spPr>
        <p:txBody>
          <a:bodyPr>
            <a:normAutofit fontScale="90000"/>
          </a:bodyPr>
          <a:lstStyle/>
          <a:p>
            <a:r>
              <a:rPr lang="en-US" dirty="0"/>
              <a:t>Excel</a:t>
            </a:r>
          </a:p>
        </p:txBody>
      </p:sp>
      <p:pic>
        <p:nvPicPr>
          <p:cNvPr id="5" name="Content Placeholder 4">
            <a:extLst>
              <a:ext uri="{FF2B5EF4-FFF2-40B4-BE49-F238E27FC236}">
                <a16:creationId xmlns:a16="http://schemas.microsoft.com/office/drawing/2014/main" id="{CB82907F-8C2C-495B-2E6B-F63BFD41A58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253"/>
          <a:stretch>
            <a:fillRect/>
          </a:stretch>
        </p:blipFill>
        <p:spPr>
          <a:xfrm>
            <a:off x="335360" y="836713"/>
            <a:ext cx="11460235" cy="5184576"/>
          </a:xfrm>
          <a:prstGeom prst="rect">
            <a:avLst/>
          </a:prstGeom>
        </p:spPr>
      </p:pic>
    </p:spTree>
    <p:extLst>
      <p:ext uri="{BB962C8B-B14F-4D97-AF65-F5344CB8AC3E}">
        <p14:creationId xmlns:p14="http://schemas.microsoft.com/office/powerpoint/2010/main" val="1097446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873C9-7666-0BB2-6E55-10F6DAF97CCA}"/>
              </a:ext>
            </a:extLst>
          </p:cNvPr>
          <p:cNvSpPr>
            <a:spLocks noGrp="1"/>
          </p:cNvSpPr>
          <p:nvPr>
            <p:ph type="title"/>
          </p:nvPr>
        </p:nvSpPr>
        <p:spPr>
          <a:xfrm>
            <a:off x="263352" y="260648"/>
            <a:ext cx="2263560" cy="467520"/>
          </a:xfrm>
        </p:spPr>
        <p:txBody>
          <a:bodyPr>
            <a:normAutofit fontScale="90000"/>
          </a:bodyPr>
          <a:lstStyle/>
          <a:p>
            <a:r>
              <a:rPr lang="en-US" dirty="0"/>
              <a:t>Power BI</a:t>
            </a:r>
          </a:p>
        </p:txBody>
      </p:sp>
      <p:pic>
        <p:nvPicPr>
          <p:cNvPr id="5" name="Content Placeholder 4">
            <a:extLst>
              <a:ext uri="{FF2B5EF4-FFF2-40B4-BE49-F238E27FC236}">
                <a16:creationId xmlns:a16="http://schemas.microsoft.com/office/drawing/2014/main" id="{33230864-5FC4-286A-539C-3DD96EEE0EE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6483"/>
          <a:stretch>
            <a:fillRect/>
          </a:stretch>
        </p:blipFill>
        <p:spPr>
          <a:xfrm>
            <a:off x="407368" y="764705"/>
            <a:ext cx="11377263" cy="5184576"/>
          </a:xfrm>
          <a:prstGeom prst="rect">
            <a:avLst/>
          </a:prstGeom>
        </p:spPr>
      </p:pic>
    </p:spTree>
    <p:extLst>
      <p:ext uri="{BB962C8B-B14F-4D97-AF65-F5344CB8AC3E}">
        <p14:creationId xmlns:p14="http://schemas.microsoft.com/office/powerpoint/2010/main" val="2897251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ADB1-AE77-47C2-7389-0B6EC703A24C}"/>
              </a:ext>
            </a:extLst>
          </p:cNvPr>
          <p:cNvSpPr>
            <a:spLocks noGrp="1"/>
          </p:cNvSpPr>
          <p:nvPr>
            <p:ph type="title"/>
          </p:nvPr>
        </p:nvSpPr>
        <p:spPr>
          <a:xfrm>
            <a:off x="191344" y="188640"/>
            <a:ext cx="1975528" cy="539528"/>
          </a:xfrm>
        </p:spPr>
        <p:txBody>
          <a:bodyPr>
            <a:normAutofit fontScale="90000"/>
          </a:bodyPr>
          <a:lstStyle/>
          <a:p>
            <a:r>
              <a:rPr lang="en-US" dirty="0"/>
              <a:t>Power BI</a:t>
            </a:r>
          </a:p>
        </p:txBody>
      </p:sp>
      <p:pic>
        <p:nvPicPr>
          <p:cNvPr id="5" name="Content Placeholder 4">
            <a:extLst>
              <a:ext uri="{FF2B5EF4-FFF2-40B4-BE49-F238E27FC236}">
                <a16:creationId xmlns:a16="http://schemas.microsoft.com/office/drawing/2014/main" id="{2C1F11B2-560E-A08E-229E-1D519BCAADC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625" t="-7692" r="-625" b="6410"/>
          <a:stretch>
            <a:fillRect/>
          </a:stretch>
        </p:blipFill>
        <p:spPr>
          <a:xfrm>
            <a:off x="407368" y="404664"/>
            <a:ext cx="11521280" cy="5688632"/>
          </a:xfrm>
          <a:prstGeom prst="rect">
            <a:avLst/>
          </a:prstGeom>
        </p:spPr>
      </p:pic>
    </p:spTree>
    <p:extLst>
      <p:ext uri="{BB962C8B-B14F-4D97-AF65-F5344CB8AC3E}">
        <p14:creationId xmlns:p14="http://schemas.microsoft.com/office/powerpoint/2010/main" val="1248442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D5270-22BD-6E0C-48A4-807C69779CFF}"/>
              </a:ext>
            </a:extLst>
          </p:cNvPr>
          <p:cNvSpPr>
            <a:spLocks noGrp="1"/>
          </p:cNvSpPr>
          <p:nvPr>
            <p:ph type="title"/>
          </p:nvPr>
        </p:nvSpPr>
        <p:spPr>
          <a:xfrm>
            <a:off x="479376" y="188640"/>
            <a:ext cx="1615488" cy="539528"/>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E66D9499-A0A6-7994-F700-4C501859B67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150"/>
          <a:stretch>
            <a:fillRect/>
          </a:stretch>
        </p:blipFill>
        <p:spPr>
          <a:xfrm>
            <a:off x="407368" y="728169"/>
            <a:ext cx="11449271" cy="5293120"/>
          </a:xfrm>
          <a:prstGeom prst="rect">
            <a:avLst/>
          </a:prstGeom>
        </p:spPr>
      </p:pic>
    </p:spTree>
    <p:extLst>
      <p:ext uri="{BB962C8B-B14F-4D97-AF65-F5344CB8AC3E}">
        <p14:creationId xmlns:p14="http://schemas.microsoft.com/office/powerpoint/2010/main" val="1680662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189C-776C-2FB7-36A5-8189C34E83D4}"/>
              </a:ext>
            </a:extLst>
          </p:cNvPr>
          <p:cNvSpPr>
            <a:spLocks noGrp="1"/>
          </p:cNvSpPr>
          <p:nvPr>
            <p:ph type="title"/>
          </p:nvPr>
        </p:nvSpPr>
        <p:spPr>
          <a:xfrm>
            <a:off x="335360" y="188640"/>
            <a:ext cx="1759504" cy="611536"/>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BFA44EB1-6875-2E0A-0D2C-BB4880DCA03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128"/>
          <a:stretch>
            <a:fillRect/>
          </a:stretch>
        </p:blipFill>
        <p:spPr>
          <a:xfrm>
            <a:off x="479376" y="908720"/>
            <a:ext cx="11233247" cy="5328592"/>
          </a:xfrm>
          <a:prstGeom prst="rect">
            <a:avLst/>
          </a:prstGeom>
        </p:spPr>
      </p:pic>
    </p:spTree>
    <p:extLst>
      <p:ext uri="{BB962C8B-B14F-4D97-AF65-F5344CB8AC3E}">
        <p14:creationId xmlns:p14="http://schemas.microsoft.com/office/powerpoint/2010/main" val="1849790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4F0FF-0EAC-C755-5F69-7C471B4E7603}"/>
              </a:ext>
            </a:extLst>
          </p:cNvPr>
          <p:cNvSpPr>
            <a:spLocks noGrp="1"/>
          </p:cNvSpPr>
          <p:nvPr>
            <p:ph type="title"/>
          </p:nvPr>
        </p:nvSpPr>
        <p:spPr>
          <a:xfrm>
            <a:off x="479376" y="116632"/>
            <a:ext cx="1759504" cy="611536"/>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586ADE4F-D8FC-35A5-4315-C3058C1377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185"/>
          <a:stretch>
            <a:fillRect/>
          </a:stretch>
        </p:blipFill>
        <p:spPr>
          <a:xfrm>
            <a:off x="191344" y="764705"/>
            <a:ext cx="11593287" cy="5256584"/>
          </a:xfrm>
          <a:prstGeom prst="rect">
            <a:avLst/>
          </a:prstGeom>
        </p:spPr>
      </p:pic>
    </p:spTree>
    <p:extLst>
      <p:ext uri="{BB962C8B-B14F-4D97-AF65-F5344CB8AC3E}">
        <p14:creationId xmlns:p14="http://schemas.microsoft.com/office/powerpoint/2010/main" val="235823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8555-FC08-629F-B26A-0DC55F03622D}"/>
              </a:ext>
            </a:extLst>
          </p:cNvPr>
          <p:cNvSpPr>
            <a:spLocks noGrp="1"/>
          </p:cNvSpPr>
          <p:nvPr>
            <p:ph type="title"/>
          </p:nvPr>
        </p:nvSpPr>
        <p:spPr>
          <a:xfrm>
            <a:off x="407368" y="188640"/>
            <a:ext cx="1615488" cy="539528"/>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9148279B-43C5-63AE-40BB-8BD4D1C0532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000"/>
          <a:stretch>
            <a:fillRect/>
          </a:stretch>
        </p:blipFill>
        <p:spPr>
          <a:xfrm>
            <a:off x="407368" y="836712"/>
            <a:ext cx="11521279" cy="5472608"/>
          </a:xfrm>
          <a:prstGeom prst="rect">
            <a:avLst/>
          </a:prstGeom>
        </p:spPr>
      </p:pic>
    </p:spTree>
    <p:extLst>
      <p:ext uri="{BB962C8B-B14F-4D97-AF65-F5344CB8AC3E}">
        <p14:creationId xmlns:p14="http://schemas.microsoft.com/office/powerpoint/2010/main" val="2669283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5AFDE-AE8C-4435-DD54-5334BEEF803E}"/>
              </a:ext>
            </a:extLst>
          </p:cNvPr>
          <p:cNvSpPr>
            <a:spLocks noGrp="1"/>
          </p:cNvSpPr>
          <p:nvPr>
            <p:ph type="title"/>
          </p:nvPr>
        </p:nvSpPr>
        <p:spPr>
          <a:xfrm>
            <a:off x="335360" y="116632"/>
            <a:ext cx="1615488" cy="611536"/>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9C07D539-2EFC-696E-B9B5-FEF405D7DBE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878"/>
          <a:stretch>
            <a:fillRect/>
          </a:stretch>
        </p:blipFill>
        <p:spPr>
          <a:xfrm>
            <a:off x="407368" y="836712"/>
            <a:ext cx="11377263" cy="5616624"/>
          </a:xfrm>
          <a:prstGeom prst="rect">
            <a:avLst/>
          </a:prstGeom>
        </p:spPr>
      </p:pic>
    </p:spTree>
    <p:extLst>
      <p:ext uri="{BB962C8B-B14F-4D97-AF65-F5344CB8AC3E}">
        <p14:creationId xmlns:p14="http://schemas.microsoft.com/office/powerpoint/2010/main" val="1799375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354AD-90C7-0156-02F3-DF8AB340667A}"/>
              </a:ext>
            </a:extLst>
          </p:cNvPr>
          <p:cNvSpPr>
            <a:spLocks noGrp="1"/>
          </p:cNvSpPr>
          <p:nvPr>
            <p:ph type="title"/>
          </p:nvPr>
        </p:nvSpPr>
        <p:spPr>
          <a:xfrm>
            <a:off x="335360" y="116632"/>
            <a:ext cx="1759504" cy="611536"/>
          </a:xfrm>
        </p:spPr>
        <p:txBody>
          <a:bodyPr>
            <a:normAutofit fontScale="90000"/>
          </a:bodyPr>
          <a:lstStyle/>
          <a:p>
            <a:r>
              <a:rPr lang="en-US" dirty="0"/>
              <a:t>Python</a:t>
            </a:r>
          </a:p>
        </p:txBody>
      </p:sp>
      <p:pic>
        <p:nvPicPr>
          <p:cNvPr id="5" name="Content Placeholder 4">
            <a:extLst>
              <a:ext uri="{FF2B5EF4-FFF2-40B4-BE49-F238E27FC236}">
                <a16:creationId xmlns:a16="http://schemas.microsoft.com/office/drawing/2014/main" id="{F50119BE-E1A8-7D49-E6CE-CFE337D8930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938"/>
          <a:stretch>
            <a:fillRect/>
          </a:stretch>
        </p:blipFill>
        <p:spPr>
          <a:xfrm>
            <a:off x="407368" y="764704"/>
            <a:ext cx="11377263" cy="5544616"/>
          </a:xfrm>
          <a:prstGeom prst="rect">
            <a:avLst/>
          </a:prstGeom>
        </p:spPr>
      </p:pic>
    </p:spTree>
    <p:extLst>
      <p:ext uri="{BB962C8B-B14F-4D97-AF65-F5344CB8AC3E}">
        <p14:creationId xmlns:p14="http://schemas.microsoft.com/office/powerpoint/2010/main" val="755303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52E6-7BAF-30B1-D603-404664B2BA9D}"/>
              </a:ext>
            </a:extLst>
          </p:cNvPr>
          <p:cNvSpPr>
            <a:spLocks noGrp="1"/>
          </p:cNvSpPr>
          <p:nvPr>
            <p:ph type="title"/>
          </p:nvPr>
        </p:nvSpPr>
        <p:spPr>
          <a:xfrm>
            <a:off x="1271464" y="908720"/>
            <a:ext cx="8771340" cy="4917058"/>
          </a:xfrm>
        </p:spPr>
        <p:txBody>
          <a:bodyPr/>
          <a:lstStyle/>
          <a:p>
            <a:r>
              <a:rPr lang="en-US" dirty="0"/>
              <a:t>Thank you</a:t>
            </a:r>
          </a:p>
        </p:txBody>
      </p:sp>
    </p:spTree>
    <p:extLst>
      <p:ext uri="{BB962C8B-B14F-4D97-AF65-F5344CB8AC3E}">
        <p14:creationId xmlns:p14="http://schemas.microsoft.com/office/powerpoint/2010/main" val="20984834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533346F-C811-4404-B626-0E7631B21215}">
  <ds:schemaRefs>
    <ds:schemaRef ds:uri="http://schemas.microsoft.com/sharepoint/v3/contenttype/forms"/>
  </ds:schemaRefs>
</ds:datastoreItem>
</file>

<file path=customXml/itemProps2.xml><?xml version="1.0" encoding="utf-8"?>
<ds:datastoreItem xmlns:ds="http://schemas.openxmlformats.org/officeDocument/2006/customXml" ds:itemID="{E2E911A2-2017-41E4-8340-9C55208F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DA384A2-DC2C-4578-B8CE-512657D68B3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Integral</Template>
  <TotalTime>42</TotalTime>
  <Words>460</Words>
  <Application>Microsoft Office PowerPoint</Application>
  <PresentationFormat>Widescreen</PresentationFormat>
  <Paragraphs>62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Abadi</vt:lpstr>
      <vt:lpstr>Arial</vt:lpstr>
      <vt:lpstr>Tw Cen MT</vt:lpstr>
      <vt:lpstr>Tw Cen MT Condensed</vt:lpstr>
      <vt:lpstr>Wingdings 3</vt:lpstr>
      <vt:lpstr>Integral</vt:lpstr>
      <vt:lpstr>travel agency</vt:lpstr>
      <vt:lpstr>Team Members:</vt:lpstr>
      <vt:lpstr>Problem Statement </vt:lpstr>
      <vt:lpstr>Project Objectives </vt:lpstr>
      <vt:lpstr>Dataset Overview </vt:lpstr>
      <vt:lpstr>Data Cleaning</vt:lpstr>
      <vt:lpstr> Tools &amp; Technologies </vt:lpstr>
      <vt:lpstr>Conclusion </vt:lpstr>
      <vt:lpstr>excel</vt:lpstr>
      <vt:lpstr>Excel</vt:lpstr>
      <vt:lpstr>Excel</vt:lpstr>
      <vt:lpstr>Power BI</vt:lpstr>
      <vt:lpstr>Power BI</vt:lpstr>
      <vt:lpstr>Python</vt:lpstr>
      <vt:lpstr>Python</vt:lpstr>
      <vt:lpstr>Python</vt:lpstr>
      <vt:lpstr>Python</vt:lpstr>
      <vt:lpstr>Python</vt:lpstr>
      <vt:lpstr>Python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Sayed Wael Amer</dc:creator>
  <cp:lastModifiedBy>AHMAD MOSTAFA</cp:lastModifiedBy>
  <cp:revision>3</cp:revision>
  <dcterms:created xsi:type="dcterms:W3CDTF">2026-05-23T14:24:01Z</dcterms:created>
  <dcterms:modified xsi:type="dcterms:W3CDTF">2026-05-23T15:37:28Z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